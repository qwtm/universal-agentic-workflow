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SDLC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371600" y="2697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AI Workflow for the Software Development Lifecycle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3383280"/>
            <a:ext cx="27432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Kane  •  Principal AI Engineer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assistants help with individual tasks but don't understand the full lifecycle.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Loss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1764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expire. No continuity between coding tasks. Every new chat starts blind.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23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Traceability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17320" y="26334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changes aren't linked to stories, ACs, or architecture decisions. Audit trail gaps.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154680"/>
            <a:ext cx="804672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918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Bolted On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417320" y="35021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happens at the end — if at all. Vulnerabilities ship and get caught in prod.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6052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Ceremony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417320" y="43708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Standups, grooming, retros are human-only. AI has the data but isn't in the loop.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orchestrator-driven agent architecture with gated quality transitions.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69164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9260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Meta-agent that sequences stages, dispatches subagents, and enforces gates between phases.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1417320"/>
            <a:ext cx="260604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41732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91640"/>
            <a:ext cx="685800" cy="685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Archetypes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611880" y="29260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workflow topologies (PM, Dev, Cloud Architect) that define the stage pipeline dynamically.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7920" y="1417320"/>
            <a:ext cx="260604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41732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691640"/>
            <a:ext cx="685800" cy="685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Gates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46520" y="29260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between stages that validate artifacts on grounding, sourcing, required fields, and vagueness.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54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1554480" cy="457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783080"/>
            <a:ext cx="182880" cy="1828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103120" y="1188720"/>
            <a:ext cx="1554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103120" y="1188720"/>
            <a:ext cx="1554480" cy="45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3716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194560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783080"/>
            <a:ext cx="182880" cy="18288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931920" y="1188720"/>
            <a:ext cx="1554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3931920" y="1188720"/>
            <a:ext cx="1554480" cy="4572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1371600"/>
            <a:ext cx="457200" cy="457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023360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1783080"/>
            <a:ext cx="182880" cy="18288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760720" y="1188720"/>
            <a:ext cx="1554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5760720" y="1188720"/>
            <a:ext cx="155448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1371600"/>
            <a:ext cx="457200" cy="4572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852160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2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0920" y="1783080"/>
            <a:ext cx="182880" cy="18288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7589520" y="1188720"/>
            <a:ext cx="1554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15"/>
          <p:cNvSpPr/>
          <p:nvPr/>
        </p:nvSpPr>
        <p:spPr>
          <a:xfrm>
            <a:off x="7589520" y="1188720"/>
            <a:ext cx="1554480" cy="45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8160" y="1371600"/>
            <a:ext cx="457200" cy="4572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7680960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Escalate</a:t>
            </a:r>
            <a:endParaRPr lang="en-US" sz="1200" dirty="0"/>
          </a:p>
        </p:txBody>
      </p:sp>
      <p:sp>
        <p:nvSpPr>
          <p:cNvPr id="28" name="Text 17"/>
          <p:cNvSpPr/>
          <p:nvPr/>
        </p:nvSpPr>
        <p:spPr>
          <a:xfrm>
            <a:off x="54864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subagent runs in an isolated context to preserve the orchestrator's window.</a:t>
            </a:r>
            <a:endParaRPr lang="en-US" sz="1300" dirty="0"/>
          </a:p>
        </p:txBody>
      </p:sp>
      <p:sp>
        <p:nvSpPr>
          <p:cNvPr id="29" name="Shape 18"/>
          <p:cNvSpPr/>
          <p:nvPr/>
        </p:nvSpPr>
        <p:spPr>
          <a:xfrm>
            <a:off x="548640" y="3566160"/>
            <a:ext cx="2606040" cy="1234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19"/>
          <p:cNvSpPr/>
          <p:nvPr/>
        </p:nvSpPr>
        <p:spPr>
          <a:xfrm>
            <a:off x="548640" y="3566160"/>
            <a:ext cx="64008" cy="12344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1" name="Text 20"/>
          <p:cNvSpPr/>
          <p:nvPr/>
        </p:nvSpPr>
        <p:spPr>
          <a:xfrm>
            <a:off x="731520" y="36393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uwf-state-manager</a:t>
            </a:r>
            <a:endParaRPr lang="en-US" sz="1300" dirty="0"/>
          </a:p>
        </p:txBody>
      </p:sp>
      <p:sp>
        <p:nvSpPr>
          <p:cNvPr id="32" name="Text 21"/>
          <p:cNvSpPr/>
          <p:nvPr/>
        </p:nvSpPr>
        <p:spPr>
          <a:xfrm>
            <a:off x="731520" y="39319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returns prompts that enforce state updates at subagent start/finish. Workflow blocks until check-in completes — no silent skips.</a:t>
            </a:r>
            <a:endParaRPr lang="en-US" sz="1100" dirty="0"/>
          </a:p>
        </p:txBody>
      </p:sp>
      <p:sp>
        <p:nvSpPr>
          <p:cNvPr id="33" name="Shape 22"/>
          <p:cNvSpPr/>
          <p:nvPr/>
        </p:nvSpPr>
        <p:spPr>
          <a:xfrm>
            <a:off x="3383280" y="3566160"/>
            <a:ext cx="2606040" cy="1234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23"/>
          <p:cNvSpPr/>
          <p:nvPr/>
        </p:nvSpPr>
        <p:spPr>
          <a:xfrm>
            <a:off x="3383280" y="3566160"/>
            <a:ext cx="64008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24"/>
          <p:cNvSpPr/>
          <p:nvPr/>
        </p:nvSpPr>
        <p:spPr>
          <a:xfrm>
            <a:off x="3566160" y="36393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Contracts</a:t>
            </a:r>
            <a:endParaRPr lang="en-US" sz="1300" dirty="0"/>
          </a:p>
        </p:txBody>
      </p:sp>
      <p:sp>
        <p:nvSpPr>
          <p:cNvPr id="36" name="Text 25"/>
          <p:cNvSpPr/>
          <p:nvPr/>
        </p:nvSpPr>
        <p:spPr>
          <a:xfrm>
            <a:off x="3566160" y="39319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must pass quality, sourcing, grounding, required fields, and vagueness checks before promotion to next stage.</a:t>
            </a:r>
            <a:endParaRPr lang="en-US" sz="1100" dirty="0"/>
          </a:p>
        </p:txBody>
      </p:sp>
      <p:sp>
        <p:nvSpPr>
          <p:cNvPr id="37" name="Shape 26"/>
          <p:cNvSpPr/>
          <p:nvPr/>
        </p:nvSpPr>
        <p:spPr>
          <a:xfrm>
            <a:off x="6217920" y="3566160"/>
            <a:ext cx="2606040" cy="1234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6217920" y="3566160"/>
            <a:ext cx="64008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28"/>
          <p:cNvSpPr/>
          <p:nvPr/>
        </p:nvSpPr>
        <p:spPr>
          <a:xfrm>
            <a:off x="6400800" y="36393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Root-Cause Loopback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6400800" y="39319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failures trace back to the originating stage. If implementation fails due to vague discovery, the workflow re-runs discovery with updated criteria.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ARCHETYPE-DRIVEN COMPOSITION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orchestrator. Different execution topology. The archetype defines the stage pipeline.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Manager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SKILL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83280" y="1691640"/>
            <a:ext cx="1280160" cy="4572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11" name="Text 8"/>
          <p:cNvSpPr/>
          <p:nvPr/>
        </p:nvSpPr>
        <p:spPr>
          <a:xfrm>
            <a:off x="342900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Intake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810512"/>
            <a:ext cx="137160" cy="1371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846320" y="1691640"/>
            <a:ext cx="1280160" cy="4572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14" name="Text 10"/>
          <p:cNvSpPr/>
          <p:nvPr/>
        </p:nvSpPr>
        <p:spPr>
          <a:xfrm>
            <a:off x="489204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Refinement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810512"/>
            <a:ext cx="137160" cy="1371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309360" y="1691640"/>
            <a:ext cx="1280160" cy="4572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17" name="Text 12"/>
          <p:cNvSpPr/>
          <p:nvPr/>
        </p:nvSpPr>
        <p:spPr>
          <a:xfrm>
            <a:off x="635508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1810512"/>
            <a:ext cx="137160" cy="1371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772400" y="1691640"/>
            <a:ext cx="1280160" cy="4572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20" name="Text 14"/>
          <p:cNvSpPr/>
          <p:nvPr/>
        </p:nvSpPr>
        <p:spPr>
          <a:xfrm>
            <a:off x="781812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 / Retro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48640" y="2606040"/>
            <a:ext cx="804672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48640" y="2606040"/>
            <a:ext cx="64008" cy="100584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88036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6304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Developer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1463040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SKILL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3383280" y="2880360"/>
            <a:ext cx="1280160" cy="4572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27" name="Text 20"/>
          <p:cNvSpPr/>
          <p:nvPr/>
        </p:nvSpPr>
        <p:spPr>
          <a:xfrm>
            <a:off x="3429000" y="2880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Analysis</a:t>
            </a:r>
            <a:endParaRPr lang="en-US" sz="10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2999232"/>
            <a:ext cx="137160" cy="13716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4846320" y="2880360"/>
            <a:ext cx="1280160" cy="4572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0" name="Text 22"/>
          <p:cNvSpPr/>
          <p:nvPr/>
        </p:nvSpPr>
        <p:spPr>
          <a:xfrm>
            <a:off x="4892040" y="2880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768" y="2999232"/>
            <a:ext cx="137160" cy="13716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309360" y="2880360"/>
            <a:ext cx="1280160" cy="4572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3" name="Text 24"/>
          <p:cNvSpPr/>
          <p:nvPr/>
        </p:nvSpPr>
        <p:spPr>
          <a:xfrm>
            <a:off x="6355080" y="2880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7808" y="2999232"/>
            <a:ext cx="137160" cy="137160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7772400" y="2880360"/>
            <a:ext cx="1280160" cy="4572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6" name="Text 26"/>
          <p:cNvSpPr/>
          <p:nvPr/>
        </p:nvSpPr>
        <p:spPr>
          <a:xfrm>
            <a:off x="7818120" y="2880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+ Review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548640" y="3794760"/>
            <a:ext cx="804672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548640" y="3794760"/>
            <a:ext cx="64008" cy="100584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4069080"/>
            <a:ext cx="457200" cy="45720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46304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Architect</a:t>
            </a:r>
            <a:endParaRPr lang="en-US" sz="1500" dirty="0"/>
          </a:p>
        </p:txBody>
      </p:sp>
      <p:sp>
        <p:nvSpPr>
          <p:cNvPr id="41" name="Text 30"/>
          <p:cNvSpPr/>
          <p:nvPr/>
        </p:nvSpPr>
        <p:spPr>
          <a:xfrm>
            <a:off x="146304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SKILL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3383280" y="4069080"/>
            <a:ext cx="1280160" cy="4572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43" name="Text 32"/>
          <p:cNvSpPr/>
          <p:nvPr/>
        </p:nvSpPr>
        <p:spPr>
          <a:xfrm>
            <a:off x="3429000" y="4069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1728" y="4187952"/>
            <a:ext cx="137160" cy="137160"/>
          </a:xfrm>
          <a:prstGeom prst="rect">
            <a:avLst/>
          </a:prstGeom>
        </p:spPr>
      </p:pic>
      <p:sp>
        <p:nvSpPr>
          <p:cNvPr id="45" name="Shape 33"/>
          <p:cNvSpPr/>
          <p:nvPr/>
        </p:nvSpPr>
        <p:spPr>
          <a:xfrm>
            <a:off x="4846320" y="4069080"/>
            <a:ext cx="1280160" cy="4572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46" name="Text 34"/>
          <p:cNvSpPr/>
          <p:nvPr/>
        </p:nvSpPr>
        <p:spPr>
          <a:xfrm>
            <a:off x="4892040" y="4069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1000" dirty="0"/>
          </a:p>
        </p:txBody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44768" y="4187952"/>
            <a:ext cx="137160" cy="137160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6309360" y="4069080"/>
            <a:ext cx="1280160" cy="4572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49" name="Text 36"/>
          <p:cNvSpPr/>
          <p:nvPr/>
        </p:nvSpPr>
        <p:spPr>
          <a:xfrm>
            <a:off x="6355080" y="4069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Design</a:t>
            </a:r>
            <a:endParaRPr lang="en-US" sz="1000" dirty="0"/>
          </a:p>
        </p:txBody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07808" y="4187952"/>
            <a:ext cx="137160" cy="137160"/>
          </a:xfrm>
          <a:prstGeom prst="rect">
            <a:avLst/>
          </a:prstGeom>
        </p:spPr>
      </p:pic>
      <p:sp>
        <p:nvSpPr>
          <p:cNvPr id="51" name="Shape 37"/>
          <p:cNvSpPr/>
          <p:nvPr/>
        </p:nvSpPr>
        <p:spPr>
          <a:xfrm>
            <a:off x="7772400" y="4069080"/>
            <a:ext cx="1280160" cy="4572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52" name="Text 38"/>
          <p:cNvSpPr/>
          <p:nvPr/>
        </p:nvSpPr>
        <p:spPr>
          <a:xfrm>
            <a:off x="7818120" y="4069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+ Validate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MODELING IN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threat modeling stage runs before review — not sprinkled across every stage.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554480" cy="548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672" y="1536192"/>
            <a:ext cx="164592" cy="1645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48840" y="1371600"/>
            <a:ext cx="1554480" cy="548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14884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1536192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931920" y="1371600"/>
            <a:ext cx="1554480" cy="548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93192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1536192"/>
            <a:ext cx="164592" cy="16459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715000" y="1371600"/>
            <a:ext cx="1554480" cy="54864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571500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2" y="1536192"/>
            <a:ext cx="164592" cy="16459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498080" y="1371600"/>
            <a:ext cx="1554480" cy="548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749808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2286000"/>
            <a:ext cx="260604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48640" y="2286000"/>
            <a:ext cx="64008" cy="22860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42316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3152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Consolidated Pass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73152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threat model generated in a single dedicated stage using accumulated context from discovery, architecture, and implementation artifacts.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3383280" y="2286000"/>
            <a:ext cx="260604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383280" y="2286000"/>
            <a:ext cx="64008" cy="2286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242316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6616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STRIDE + Attack Surface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356616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boundaries analyzed for spoofing, tampering, repudiation, information disclosure, DoS, and elevation of privilege. Attack vectors logged per story.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6217920" y="2286000"/>
            <a:ext cx="260604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217920" y="2286000"/>
            <a:ext cx="64008" cy="22860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2423160"/>
            <a:ext cx="411480" cy="41148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40080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Gate-Enforced Coverage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640080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gate validates threat model completeness. Missing coverage blocks progression. Findings hydrate back into stories and acceptance criteria.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SKILLS: EXECUTABLE CAPABILITIES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bundle knowledge, templates, and tooling into deployable units of capability.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Traditional: Prompt-Only Skills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text injected into context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 or enforcement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skill loaded regardless of need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executable tooling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drifts from implementation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840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417320"/>
            <a:ext cx="384048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Agentic: Executable Skills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20116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+ templates + scripts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validation via executables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 on demand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caching &amp; state management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generation built in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REFINEMENT HYDRATION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issues enter the pipeline and exit enriched, groomed, and ready for sprint planning.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291840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64008" cy="3017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ISSUE (IN)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"Login page is broken on mobile"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acceptance criteria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affected components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threat surface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priority or sizing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related ADRs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651760"/>
            <a:ext cx="502920" cy="502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937760" y="1463040"/>
            <a:ext cx="3657600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463040"/>
            <a:ext cx="64008" cy="3017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521208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HYDRATED STORY (OUT)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212080" y="201168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US-0047: Mobile Auth Layout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acceptance criteria generated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AuthForm, MobileLayout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session fixation on redirect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Related: ADR-012 (auth flow)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Estimated: 3 SP, Priority: High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MANAGEMENT &amp; LOCAL CACHING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work runs as scripts. Models only handle what requires reasoning.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319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64008" cy="14630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uwf-state-manager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19202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skill managing stage transitions. Returns prompts to update state at subagent start/finish. Workflow blocks until check-in completes — no progression without current state.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417320"/>
            <a:ext cx="39319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417320"/>
            <a:ext cx="64008" cy="14630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002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uwf-local-tracking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577840" y="19202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skill for local issue tracking after pull from Jira or equivalent. Manages the local representation of backlog items through the workflow lifecycle.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108960"/>
            <a:ext cx="39319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3108960"/>
            <a:ext cx="64008" cy="146304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918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Deterministic by Default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71600" y="3611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nondeterministic. Anything that can be a script IS a script: state transitions, gate validation, caching, tracking. LLMs only handle reasoning-dependent work.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108960"/>
            <a:ext cx="39319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108960"/>
            <a:ext cx="64008" cy="146304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9184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Prompt-Based Handoff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577840" y="3611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state objects passed between agents. State manager skill returns prompts that instruct the next subagent to update state. Missed check-ins block the entire workflow.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PROJECTED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96596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9728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60-80%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Grooming 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196596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097280"/>
            <a:ext cx="19659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Shift-Left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743200" y="21031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1097280"/>
            <a:ext cx="196596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097280"/>
            <a:ext cx="19659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937760" y="21031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Story-to-Code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95160" y="1097280"/>
            <a:ext cx="196596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95160" y="1097280"/>
            <a:ext cx="196596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132320" y="21031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Loss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Sessions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804672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474720"/>
            <a:ext cx="64008" cy="109728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703320"/>
            <a:ext cx="548640" cy="5486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54480" y="3611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NEXT: CLOUD-CONTINUOUS WORKFLOW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554480" y="3977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this architecture from the IDE to a cloud-native continuous agent pipeline — running 24/7, processing the backlog, triaging issues, and preparing sprint-ready work before the team arrives.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SDLC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assisted coding to orchestrated software engineering.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3520440"/>
            <a:ext cx="27432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Kane  •  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SDLC Workflow — Architecture &amp; Design</dc:title>
  <dc:subject>PptxGenJS Presentation</dc:subject>
  <dc:creator>Chris Kane</dc:creator>
  <cp:lastModifiedBy>Chris Kane</cp:lastModifiedBy>
  <cp:revision>1</cp:revision>
  <dcterms:created xsi:type="dcterms:W3CDTF">2026-03-14T01:32:04Z</dcterms:created>
  <dcterms:modified xsi:type="dcterms:W3CDTF">2026-03-14T01:32:04Z</dcterms:modified>
</cp:coreProperties>
</file>